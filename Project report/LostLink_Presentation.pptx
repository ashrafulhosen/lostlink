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2" r:id="rId29"/>
    <p:sldId id="283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28090">
              <a:alpha val="4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00A896">
              <a:alpha val="3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CAMPUS LOST &amp; FOUND MANAGEMENT SYSTEM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10515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LostLink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8686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E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Oracle PL/SQL powered backend for reporting, smart matching, and secure claim processing of lost and found items on campus.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C7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Engine  •  Oracle 11g XE          Backend  •  PL/SQL          Web  •  PHP 8 (OCI8)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LostLink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297680"/>
          </a:xfrm>
          <a:prstGeom prst="rect">
            <a:avLst/>
          </a:prstGeom>
          <a:solidFill>
            <a:srgbClr val="F4FBFA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6035040" cy="3840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manages the backend operations for a centralized campus lost and found platform. It handles user authentication, item reporting, smart matching, secure claim processing, and real-time notifications.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Strict transaction management maintains data integrity and prevents false claims, while the design facilitates connections between finders and losers with an auditable log of every activity.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0" y="17830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26680" y="1892808"/>
            <a:ext cx="11887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915400" y="1892808"/>
            <a:ext cx="2606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database tables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0" y="29260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26680" y="3035808"/>
            <a:ext cx="11887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915400" y="3035808"/>
            <a:ext cx="2606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Stored procedures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98080" y="40690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26680" y="4178808"/>
            <a:ext cx="11887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915400" y="4178808"/>
            <a:ext cx="2606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 &amp; retrieval functions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98080" y="52120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26680" y="5321808"/>
            <a:ext cx="11887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915400" y="5321808"/>
            <a:ext cx="2606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triggers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 |  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6" name="Text 4"/>
          <p:cNvSpPr/>
          <p:nvPr/>
        </p:nvSpPr>
        <p:spPr>
          <a:xfrm>
            <a:off x="868680" y="22860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2221992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Engine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2697480"/>
            <a:ext cx="4023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Oracle Database 11g Express Edition (XE)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2286000"/>
            <a:ext cx="640080" cy="64008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1" name="Text 9"/>
          <p:cNvSpPr/>
          <p:nvPr/>
        </p:nvSpPr>
        <p:spPr>
          <a:xfrm>
            <a:off x="6629400" y="22860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98080" y="2221992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 Language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0" y="2697480"/>
            <a:ext cx="4023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and PL/SQL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389120"/>
            <a:ext cx="640080" cy="64008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6" name="Text 14"/>
          <p:cNvSpPr/>
          <p:nvPr/>
        </p:nvSpPr>
        <p:spPr>
          <a:xfrm>
            <a:off x="868680" y="438912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4325112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Application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4800600"/>
            <a:ext cx="4023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PHP 8 with OCI8 Extension, HTML, CSS, JavaScript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406908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4389120"/>
            <a:ext cx="640080" cy="64008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21" name="Text 19"/>
          <p:cNvSpPr/>
          <p:nvPr/>
        </p:nvSpPr>
        <p:spPr>
          <a:xfrm>
            <a:off x="6629400" y="438912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98080" y="4325112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Server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98080" y="4800600"/>
            <a:ext cx="4023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Apache (XAMPP)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 |  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Entity Relationship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10515600" cy="4709160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 |  04</a:t>
            </a:r>
            <a:endParaRPr lang="en-US" sz="1000" dirty="0"/>
          </a:p>
        </p:txBody>
      </p:sp>
      <p:pic>
        <p:nvPicPr>
          <p:cNvPr id="7" name="Picture 6" descr="er_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935" y="1978025"/>
            <a:ext cx="8169910" cy="43014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Relational Schema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tables, primary keys, and foreign key dependencies implemented in the database.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05156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 |  05</a:t>
            </a:r>
            <a:endParaRPr lang="en-US" sz="1000" dirty="0"/>
          </a:p>
        </p:txBody>
      </p:sp>
      <p:pic>
        <p:nvPicPr>
          <p:cNvPr id="8" name="Picture 7" descr="Screenshot 2026-07-18 0153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4990" y="2053590"/>
            <a:ext cx="85420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Core Database Tables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4FBFA"/>
          </a:solidFill>
        </p:spPr>
      </p:sp>
      <p:sp>
        <p:nvSpPr>
          <p:cNvPr id="5" name="Text 3"/>
          <p:cNvSpPr/>
          <p:nvPr/>
        </p:nvSpPr>
        <p:spPr>
          <a:xfrm>
            <a:off x="731520" y="1883664"/>
            <a:ext cx="1920240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1883664"/>
            <a:ext cx="3108960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 authentication &amp; role management (Admin vs User)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4FBFA"/>
          </a:solidFill>
        </p:spPr>
      </p:sp>
      <p:sp>
        <p:nvSpPr>
          <p:cNvPr id="8" name="Text 6"/>
          <p:cNvSpPr/>
          <p:nvPr/>
        </p:nvSpPr>
        <p:spPr>
          <a:xfrm>
            <a:off x="6446520" y="1883664"/>
            <a:ext cx="1920240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LOST_ITEMS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66760" y="1883664"/>
            <a:ext cx="3108960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Records of items reported lost, linked to reporting user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953512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4FBFA"/>
          </a:solidFill>
        </p:spPr>
      </p:sp>
      <p:sp>
        <p:nvSpPr>
          <p:cNvPr id="11" name="Text 9"/>
          <p:cNvSpPr/>
          <p:nvPr/>
        </p:nvSpPr>
        <p:spPr>
          <a:xfrm>
            <a:off x="731520" y="3008376"/>
            <a:ext cx="1920240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FOUND_ITEMS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3008376"/>
            <a:ext cx="3108960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 item records; status defaults to UNCLAIMED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2953512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4FBFA"/>
          </a:solidFill>
        </p:spPr>
      </p:sp>
      <p:sp>
        <p:nvSpPr>
          <p:cNvPr id="14" name="Text 12"/>
          <p:cNvSpPr/>
          <p:nvPr/>
        </p:nvSpPr>
        <p:spPr>
          <a:xfrm>
            <a:off x="6446520" y="3008376"/>
            <a:ext cx="1920240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ITEM_IMAGES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3008376"/>
            <a:ext cx="3108960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file paths for uploaded lost/found item photos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078224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4FBFA"/>
          </a:solidFill>
        </p:spPr>
      </p:sp>
      <p:sp>
        <p:nvSpPr>
          <p:cNvPr id="17" name="Text 15"/>
          <p:cNvSpPr/>
          <p:nvPr/>
        </p:nvSpPr>
        <p:spPr>
          <a:xfrm>
            <a:off x="731520" y="4133088"/>
            <a:ext cx="1920240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4133088"/>
            <a:ext cx="3108960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Pairings between lost &amp; found items with a match score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4078224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4FBFA"/>
          </a:solidFill>
        </p:spPr>
      </p:sp>
      <p:sp>
        <p:nvSpPr>
          <p:cNvPr id="20" name="Text 18"/>
          <p:cNvSpPr/>
          <p:nvPr/>
        </p:nvSpPr>
        <p:spPr>
          <a:xfrm>
            <a:off x="6446520" y="4133088"/>
            <a:ext cx="1920240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CLAIMS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66760" y="4133088"/>
            <a:ext cx="3108960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ledger for ownership claims; status PENDING by default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202936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4FBFA"/>
          </a:solidFill>
        </p:spPr>
      </p:sp>
      <p:sp>
        <p:nvSpPr>
          <p:cNvPr id="23" name="Text 21"/>
          <p:cNvSpPr/>
          <p:nvPr/>
        </p:nvSpPr>
        <p:spPr>
          <a:xfrm>
            <a:off x="731520" y="5257800"/>
            <a:ext cx="1920240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51760" y="5257800"/>
            <a:ext cx="3108960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System-generated alerts for matches &amp; claim updates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5202936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4FBFA"/>
          </a:solidFill>
        </p:spPr>
      </p:sp>
      <p:sp>
        <p:nvSpPr>
          <p:cNvPr id="26" name="Text 24"/>
          <p:cNvSpPr/>
          <p:nvPr/>
        </p:nvSpPr>
        <p:spPr>
          <a:xfrm>
            <a:off x="6446520" y="5257800"/>
            <a:ext cx="1920240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66760" y="5257800"/>
            <a:ext cx="3108960" cy="8503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 between users connected via a smart match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 |  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Table Relationships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One-to-Many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475488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maintains a one-to-many relationship with LOST_ITEMS, FOUND_ITEMS, CLAIMS, NOTIFICATIONS, and MESSAGES.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single user can report multiple items or send multiple messages, but each item or message belongs to only one user.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148840"/>
            <a:ext cx="4754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Many-to-Many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697480"/>
            <a:ext cx="4754880" cy="3017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LOST_ITEMS and FOUND_ITEMS relate many-to-many: one lost item can potentially match multiple found items, and vice versa.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resolved with the MATCHES table acting as an intersection entity connecting LOST_ID and FOUND_ID.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 |  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LOGIC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Stored Procedures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Encapsulate business logic to ensure secure, atomic database operations.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F4FBFA"/>
          </a:solidFill>
        </p:spPr>
      </p:sp>
      <p:sp>
        <p:nvSpPr>
          <p:cNvPr id="6" name="Text 4"/>
          <p:cNvSpPr/>
          <p:nvPr/>
        </p:nvSpPr>
        <p:spPr>
          <a:xfrm>
            <a:off x="713232" y="1947672"/>
            <a:ext cx="506577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SP_REGISTER_USER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2276856"/>
            <a:ext cx="5065776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Securely inserts new user records with name, student ID, email, and password hash.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63640" y="1874520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F4FBFA"/>
          </a:solidFill>
        </p:spPr>
      </p:sp>
      <p:sp>
        <p:nvSpPr>
          <p:cNvPr id="9" name="Text 7"/>
          <p:cNvSpPr/>
          <p:nvPr/>
        </p:nvSpPr>
        <p:spPr>
          <a:xfrm>
            <a:off x="6428232" y="1947672"/>
            <a:ext cx="506577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SP_REPORT_LOST_ITEM / SP_REPORT_FOUND_ITEM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28232" y="2276856"/>
            <a:ext cx="5065776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Inserts item details and returns the new LOST_ID/FOUND_ID for image upload.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F4FBFA"/>
          </a:solidFill>
        </p:spPr>
      </p:sp>
      <p:sp>
        <p:nvSpPr>
          <p:cNvPr id="12" name="Text 10"/>
          <p:cNvSpPr/>
          <p:nvPr/>
        </p:nvSpPr>
        <p:spPr>
          <a:xfrm>
            <a:off x="713232" y="3136392"/>
            <a:ext cx="506577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SP_FILE_CLAIM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3232" y="3465576"/>
            <a:ext cx="5065776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a new ownership claim with PENDING status and proof of ownership.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3063240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F4FBFA"/>
          </a:solidFill>
        </p:spPr>
      </p:sp>
      <p:sp>
        <p:nvSpPr>
          <p:cNvPr id="15" name="Text 13"/>
          <p:cNvSpPr/>
          <p:nvPr/>
        </p:nvSpPr>
        <p:spPr>
          <a:xfrm>
            <a:off x="6428232" y="3136392"/>
            <a:ext cx="506577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SP_PROCESS_CLAIM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28232" y="3465576"/>
            <a:ext cx="5065776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approval/rejection; cascades status updates to RECOVERED on approval.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F4FBFA"/>
          </a:solidFill>
        </p:spPr>
      </p:sp>
      <p:sp>
        <p:nvSpPr>
          <p:cNvPr id="18" name="Text 16"/>
          <p:cNvSpPr/>
          <p:nvPr/>
        </p:nvSpPr>
        <p:spPr>
          <a:xfrm>
            <a:off x="713232" y="4325112"/>
            <a:ext cx="506577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SP_UPDATE_LOST_ITEM / SP_DELETE_LOST_ITEM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3232" y="4654296"/>
            <a:ext cx="5065776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Lets users update or securely delete their reported items.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4251960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F4FBFA"/>
          </a:solidFill>
        </p:spPr>
      </p:sp>
      <p:sp>
        <p:nvSpPr>
          <p:cNvPr id="21" name="Text 19"/>
          <p:cNvSpPr/>
          <p:nvPr/>
        </p:nvSpPr>
        <p:spPr>
          <a:xfrm>
            <a:off x="6428232" y="4325112"/>
            <a:ext cx="506577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SP_UPDATE_USER_PROFILE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28232" y="4654296"/>
            <a:ext cx="5065776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Updates a user's full name and student ID.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F4FBFA"/>
          </a:solidFill>
        </p:spPr>
      </p:sp>
      <p:sp>
        <p:nvSpPr>
          <p:cNvPr id="24" name="Text 22"/>
          <p:cNvSpPr/>
          <p:nvPr/>
        </p:nvSpPr>
        <p:spPr>
          <a:xfrm>
            <a:off x="713232" y="5513832"/>
            <a:ext cx="506577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SP_ADD_MESSAGE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13232" y="5843016"/>
            <a:ext cx="5065776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Securely inserts real-time chat messages between matched users.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5440680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F4FBFA"/>
          </a:solidFill>
        </p:spPr>
      </p:sp>
      <p:sp>
        <p:nvSpPr>
          <p:cNvPr id="27" name="Text 25"/>
          <p:cNvSpPr/>
          <p:nvPr/>
        </p:nvSpPr>
        <p:spPr>
          <a:xfrm>
            <a:off x="6428232" y="5513832"/>
            <a:ext cx="506577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SP_ADD_ITEM_IMAGE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28232" y="5843016"/>
            <a:ext cx="5065776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Links an uploaded image path to a LOST_ID or FOUND_ID.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 |  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LOGIC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Functions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332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for data retrieval, analytics, and complex calculations — most return a SYS_REFCURSOR for the PHP frontend.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F4FBFA"/>
          </a:solidFill>
        </p:spPr>
      </p:sp>
      <p:sp>
        <p:nvSpPr>
          <p:cNvPr id="6" name="Text 4"/>
          <p:cNvSpPr/>
          <p:nvPr/>
        </p:nvSpPr>
        <p:spPr>
          <a:xfrm>
            <a:off x="713232" y="1993392"/>
            <a:ext cx="506577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FN_GET_USER_BY_EMAIL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2322576"/>
            <a:ext cx="5065776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 lookup during login.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F4FBFA"/>
          </a:solidFill>
        </p:spPr>
      </p:sp>
      <p:sp>
        <p:nvSpPr>
          <p:cNvPr id="9" name="Text 7"/>
          <p:cNvSpPr/>
          <p:nvPr/>
        </p:nvSpPr>
        <p:spPr>
          <a:xfrm>
            <a:off x="6428232" y="1993392"/>
            <a:ext cx="506577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FN_CALCULATE_MATCH_SCORE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28232" y="2322576"/>
            <a:ext cx="5065776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smart-matching algorithm; scores category, color, and date similarity.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F4FBFA"/>
          </a:solidFill>
        </p:spPr>
      </p:sp>
      <p:sp>
        <p:nvSpPr>
          <p:cNvPr id="12" name="Text 10"/>
          <p:cNvSpPr/>
          <p:nvPr/>
        </p:nvSpPr>
        <p:spPr>
          <a:xfrm>
            <a:off x="713232" y="3182112"/>
            <a:ext cx="506577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FN_GET_USER_CLAIMS / FN_GET_PENDING_CLAIMS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3232" y="3511296"/>
            <a:ext cx="5065776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Retrieves a user's claims, or all claims pending admin review.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3108960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F4FBFA"/>
          </a:solidFill>
        </p:spPr>
      </p:sp>
      <p:sp>
        <p:nvSpPr>
          <p:cNvPr id="15" name="Text 13"/>
          <p:cNvSpPr/>
          <p:nvPr/>
        </p:nvSpPr>
        <p:spPr>
          <a:xfrm>
            <a:off x="6428232" y="3182112"/>
            <a:ext cx="506577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FN_GET_USER_NOTIFICATIONS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28232" y="3511296"/>
            <a:ext cx="5065776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Fetches unread and historical notifications.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F4FBFA"/>
          </a:solidFill>
        </p:spPr>
      </p:sp>
      <p:sp>
        <p:nvSpPr>
          <p:cNvPr id="18" name="Text 16"/>
          <p:cNvSpPr/>
          <p:nvPr/>
        </p:nvSpPr>
        <p:spPr>
          <a:xfrm>
            <a:off x="713232" y="4370832"/>
            <a:ext cx="506577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FN_GET_MESSAGES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3232" y="4700016"/>
            <a:ext cx="5065776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Retrieves chronological chat history for a match.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4297680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F4FBFA"/>
          </a:solidFill>
        </p:spPr>
      </p:sp>
      <p:sp>
        <p:nvSpPr>
          <p:cNvPr id="21" name="Text 19"/>
          <p:cNvSpPr/>
          <p:nvPr/>
        </p:nvSpPr>
        <p:spPr>
          <a:xfrm>
            <a:off x="6428232" y="4370832"/>
            <a:ext cx="506577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FN_GET_ITEM_IMAGE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28232" y="4700016"/>
            <a:ext cx="5065776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Returns the file path of an item's primary image.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486400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F4FBFA"/>
          </a:solidFill>
        </p:spPr>
      </p:sp>
      <p:sp>
        <p:nvSpPr>
          <p:cNvPr id="24" name="Text 22"/>
          <p:cNvSpPr/>
          <p:nvPr/>
        </p:nvSpPr>
        <p:spPr>
          <a:xfrm>
            <a:off x="713232" y="5559552"/>
            <a:ext cx="506577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FN_GET_USER_PROFILE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13232" y="5888736"/>
            <a:ext cx="5065776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Retrieves profile display information.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5486400"/>
            <a:ext cx="5394960" cy="1078992"/>
          </a:xfrm>
          <a:prstGeom prst="roundRect">
            <a:avLst>
              <a:gd name="adj" fmla="val 5932"/>
            </a:avLst>
          </a:prstGeom>
          <a:solidFill>
            <a:srgbClr val="F4FBFA"/>
          </a:solidFill>
        </p:spPr>
      </p:sp>
      <p:sp>
        <p:nvSpPr>
          <p:cNvPr id="27" name="Text 25"/>
          <p:cNvSpPr/>
          <p:nvPr/>
        </p:nvSpPr>
        <p:spPr>
          <a:xfrm>
            <a:off x="6428232" y="5559552"/>
            <a:ext cx="5065776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FN_GET_OVERALL_STATS / CATEGORY / HOTSPOT / RECENT_ACTIVITY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28232" y="5888736"/>
            <a:ext cx="5065776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analytics: totals, category breakdowns, hotspots, recent actions.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 |  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LOGIC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Triggers &amp; Automation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27148"/>
            <a:ext cx="512064" cy="512064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6" name="Text 4"/>
          <p:cNvSpPr/>
          <p:nvPr/>
        </p:nvSpPr>
        <p:spPr>
          <a:xfrm>
            <a:off x="822960" y="2327148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32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039112"/>
            <a:ext cx="9235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Auto-Increment Triggers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423160"/>
            <a:ext cx="92354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Oracle 11g lacks native AUTO_INCREMENT — BEFORE INSERT triggers fetch NEXTVAL from sequences (USERS_BI, LOST_ITEMS_BI, FOUND_ITEMS_BI) to assign primary keys.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927348"/>
            <a:ext cx="512064" cy="512064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1" name="Text 9"/>
          <p:cNvSpPr/>
          <p:nvPr/>
        </p:nvSpPr>
        <p:spPr>
          <a:xfrm>
            <a:off x="822960" y="3927348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32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00200" y="3639312"/>
            <a:ext cx="9235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TRG_MATCH_ON_LOST_INSERT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4023360"/>
            <a:ext cx="92354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Fires after a new lost item is reported — scans UNCLAIMED found items, scores matches, and populates the MATCHES table.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0515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5527548"/>
            <a:ext cx="512064" cy="512064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6" name="Text 14"/>
          <p:cNvSpPr/>
          <p:nvPr/>
        </p:nvSpPr>
        <p:spPr>
          <a:xfrm>
            <a:off x="822960" y="5527548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32B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00200" y="5239512"/>
            <a:ext cx="9235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TRG_MATCH_ON_FOUND_INSERT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5623560"/>
            <a:ext cx="92354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Fires after a new found item is reported — scans ACTIVE lost items and proactively alerts users of a possible match.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 |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LostLink Works — 4 Phases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028090"/>
          </a:solidFill>
        </p:spPr>
      </p:sp>
      <p:sp>
        <p:nvSpPr>
          <p:cNvPr id="5" name="Text 3"/>
          <p:cNvSpPr/>
          <p:nvPr/>
        </p:nvSpPr>
        <p:spPr>
          <a:xfrm>
            <a:off x="777240" y="2240280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FEE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2148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Registration &amp; Reporting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749040"/>
            <a:ext cx="214884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F6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register with Name, Student ID &amp; Email; report lost/found items with category, location, date, and images.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55848" y="196596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00A896"/>
          </a:solidFill>
        </p:spPr>
      </p:sp>
      <p:sp>
        <p:nvSpPr>
          <p:cNvPr id="9" name="Text 7"/>
          <p:cNvSpPr/>
          <p:nvPr/>
        </p:nvSpPr>
        <p:spPr>
          <a:xfrm>
            <a:off x="3584448" y="2240280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FEE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84448" y="2651760"/>
            <a:ext cx="2148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Smart Matching &amp; Chat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84448" y="3749040"/>
            <a:ext cx="214884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F6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scores potential matches, creates MATCHES records, sends notifications, and enables secure chat.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63056" y="196596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028090"/>
          </a:solidFill>
        </p:spPr>
      </p:sp>
      <p:sp>
        <p:nvSpPr>
          <p:cNvPr id="13" name="Text 11"/>
          <p:cNvSpPr/>
          <p:nvPr/>
        </p:nvSpPr>
        <p:spPr>
          <a:xfrm>
            <a:off x="6391656" y="2240280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FEE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91656" y="2651760"/>
            <a:ext cx="2148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Claims &amp; Verification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91656" y="3749040"/>
            <a:ext cx="214884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F6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file claims with proof of ownership; admins review and approve/reject, updating item status to Recovered.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70264" y="196596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00A896"/>
          </a:solidFill>
        </p:spPr>
      </p:sp>
      <p:sp>
        <p:nvSpPr>
          <p:cNvPr id="17" name="Text 15"/>
          <p:cNvSpPr/>
          <p:nvPr/>
        </p:nvSpPr>
        <p:spPr>
          <a:xfrm>
            <a:off x="9198864" y="2240280"/>
            <a:ext cx="2148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FEE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98864" y="2651760"/>
            <a:ext cx="2148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Analytics &amp; Reporting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98864" y="3749040"/>
            <a:ext cx="214884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F6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dashboards show Total Lost, Found, Recovered, and Pending Claims — personal for users, global for admins.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 |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CAPABILITIES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F4FBFA"/>
          </a:solidFill>
        </p:spPr>
      </p:sp>
      <p:sp>
        <p:nvSpPr>
          <p:cNvPr id="5" name="Shape 3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6" name="Text 4"/>
          <p:cNvSpPr/>
          <p:nvPr/>
        </p:nvSpPr>
        <p:spPr>
          <a:xfrm>
            <a:off x="777240" y="2743200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Authentication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2971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hashing and role-based access control (Admin vs User).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78808" y="192024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F4FBFA"/>
          </a:solidFill>
        </p:spPr>
      </p:sp>
      <p:sp>
        <p:nvSpPr>
          <p:cNvPr id="9" name="Shape 7"/>
          <p:cNvSpPr/>
          <p:nvPr/>
        </p:nvSpPr>
        <p:spPr>
          <a:xfrm>
            <a:off x="4407408" y="2148840"/>
            <a:ext cx="457200" cy="45720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0" name="Text 8"/>
          <p:cNvSpPr/>
          <p:nvPr/>
        </p:nvSpPr>
        <p:spPr>
          <a:xfrm>
            <a:off x="4407408" y="2743200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Matching System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07408" y="3154680"/>
            <a:ext cx="2971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pairing of lost and found items by category and details.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08976" y="1920240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F4FBFA"/>
          </a:solidFill>
        </p:spPr>
      </p:sp>
      <p:sp>
        <p:nvSpPr>
          <p:cNvPr id="13" name="Shape 11"/>
          <p:cNvSpPr/>
          <p:nvPr/>
        </p:nvSpPr>
        <p:spPr>
          <a:xfrm>
            <a:off x="8037576" y="2148840"/>
            <a:ext cx="457200" cy="45720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4" name="Text 12"/>
          <p:cNvSpPr/>
          <p:nvPr/>
        </p:nvSpPr>
        <p:spPr>
          <a:xfrm>
            <a:off x="8037576" y="2743200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Communication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037576" y="3154680"/>
            <a:ext cx="2971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 chat lets users discuss matches directly.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33088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F4FBFA"/>
          </a:solidFill>
        </p:spPr>
      </p:sp>
      <p:sp>
        <p:nvSpPr>
          <p:cNvPr id="17" name="Shape 15"/>
          <p:cNvSpPr/>
          <p:nvPr/>
        </p:nvSpPr>
        <p:spPr>
          <a:xfrm>
            <a:off x="777240" y="4361688"/>
            <a:ext cx="457200" cy="45720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8" name="Text 16"/>
          <p:cNvSpPr/>
          <p:nvPr/>
        </p:nvSpPr>
        <p:spPr>
          <a:xfrm>
            <a:off x="777240" y="4956048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&amp; Filtering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77240" y="5367528"/>
            <a:ext cx="2971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JavaScript filtering by category and status.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78808" y="4133088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F4FBFA"/>
          </a:solidFill>
        </p:spPr>
      </p:sp>
      <p:sp>
        <p:nvSpPr>
          <p:cNvPr id="21" name="Shape 19"/>
          <p:cNvSpPr/>
          <p:nvPr/>
        </p:nvSpPr>
        <p:spPr>
          <a:xfrm>
            <a:off x="4407408" y="4361688"/>
            <a:ext cx="457200" cy="45720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22" name="Text 20"/>
          <p:cNvSpPr/>
          <p:nvPr/>
        </p:nvSpPr>
        <p:spPr>
          <a:xfrm>
            <a:off x="4407408" y="4956048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Dashboards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407408" y="5367528"/>
            <a:ext cx="2971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Context-aware stat cards adapt to the user's role.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08976" y="4133088"/>
            <a:ext cx="3429000" cy="2011680"/>
          </a:xfrm>
          <a:prstGeom prst="roundRect">
            <a:avLst>
              <a:gd name="adj" fmla="val 4545"/>
            </a:avLst>
          </a:prstGeom>
          <a:solidFill>
            <a:srgbClr val="F4FBFA"/>
          </a:solidFill>
        </p:spPr>
      </p:sp>
      <p:sp>
        <p:nvSpPr>
          <p:cNvPr id="25" name="Shape 23"/>
          <p:cNvSpPr/>
          <p:nvPr/>
        </p:nvSpPr>
        <p:spPr>
          <a:xfrm>
            <a:off x="8037576" y="4361688"/>
            <a:ext cx="457200" cy="457200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26" name="Text 24"/>
          <p:cNvSpPr/>
          <p:nvPr/>
        </p:nvSpPr>
        <p:spPr>
          <a:xfrm>
            <a:off x="8037576" y="4956048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Management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037576" y="5367528"/>
            <a:ext cx="2971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Seamless upload and retrieval of item photos for verification.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 |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00A896">
              <a:alpha val="4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028090">
              <a:alpha val="3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914400" y="2743200"/>
            <a:ext cx="103327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 Interface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E0D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 experienced by students reporting lost &amp; found items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Login &amp; Registration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466344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work/extracted/Project report/user(screenshots)/Screenshot 2026-07-18 00101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77240" y="1828800"/>
            <a:ext cx="480060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943600"/>
            <a:ext cx="4800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 screen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080760" y="1691640"/>
            <a:ext cx="5074920" cy="466344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/home/claude/work/extracted/Project report/user(screenshots)/Screenshot 2026-07-18 001028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17920" y="1828800"/>
            <a:ext cx="4800600" cy="4069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5943600"/>
            <a:ext cx="4800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Registration screen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 |  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165" y="82296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332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Personalized overview of a student's reported items and activity.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05156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 |  14</a:t>
            </a:r>
            <a:endParaRPr lang="en-US" sz="1000" dirty="0"/>
          </a:p>
        </p:txBody>
      </p:sp>
      <p:pic>
        <p:nvPicPr>
          <p:cNvPr id="8" name="Picture 7" descr="Screenshot 2026-07-18 0033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2088515"/>
            <a:ext cx="10059670" cy="4051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Report a Lost Item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332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 for submitting a lost item report with category, location, and date.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05156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work/extracted/Project report/user(screenshots)/Screenshot 2026-07-18 001123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05840" y="1993392"/>
            <a:ext cx="10149840" cy="41970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 |  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Report a Found Item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332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 for submitting a found item report for the campus registry.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05156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 |  16</a:t>
            </a:r>
            <a:endParaRPr lang="en-US" sz="1000" dirty="0"/>
          </a:p>
        </p:txBody>
      </p:sp>
      <p:pic>
        <p:nvPicPr>
          <p:cNvPr id="8" name="Image 0" descr="/home/claude/work/extracted/Project report/user(screenshots)/Screenshot 2026-07-18 001151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05840" y="1993392"/>
            <a:ext cx="10149840" cy="419709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Browse Lost &amp; Found Listings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332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search and filtering by category and status.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 |  17</a:t>
            </a:r>
            <a:endParaRPr lang="en-US" sz="1000" dirty="0"/>
          </a:p>
        </p:txBody>
      </p:sp>
      <p:sp>
        <p:nvSpPr>
          <p:cNvPr id="8" name="Shape 2"/>
          <p:cNvSpPr/>
          <p:nvPr/>
        </p:nvSpPr>
        <p:spPr>
          <a:xfrm>
            <a:off x="822960" y="1701165"/>
            <a:ext cx="1051560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3"/>
          <p:cNvSpPr/>
          <p:nvPr/>
        </p:nvSpPr>
        <p:spPr>
          <a:xfrm>
            <a:off x="1005840" y="3753612"/>
            <a:ext cx="10149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cs typeface="+mn-lt"/>
              </a:rPr>
              <a:t>Lists of Lost &amp; Found items reported by the user</a:t>
            </a:r>
            <a:endParaRPr lang="en-US" sz="1100" dirty="0">
              <a:cs typeface="+mn-lt"/>
            </a:endParaRPr>
          </a:p>
        </p:txBody>
      </p:sp>
      <p:sp>
        <p:nvSpPr>
          <p:cNvPr id="11" name="Shape 4"/>
          <p:cNvSpPr/>
          <p:nvPr/>
        </p:nvSpPr>
        <p:spPr>
          <a:xfrm>
            <a:off x="822960" y="4223385"/>
            <a:ext cx="10515600" cy="226695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1" descr="/home/claude/work/extracted/Project report/user(screenshots)/Screenshot 2026-07-18 001635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5365" y="4360545"/>
            <a:ext cx="10149840" cy="178308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005840" y="6171057"/>
            <a:ext cx="10149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/>
              <a:t>Search items by category and status</a:t>
            </a:r>
            <a:endParaRPr lang="en-US" sz="1100" dirty="0"/>
          </a:p>
        </p:txBody>
      </p:sp>
      <p:pic>
        <p:nvPicPr>
          <p:cNvPr id="14" name="Picture 13" descr="Screenshot 2026-07-18 001105"/>
          <p:cNvPicPr>
            <a:picLocks noChangeAspect="1"/>
          </p:cNvPicPr>
          <p:nvPr/>
        </p:nvPicPr>
        <p:blipFill>
          <a:blip r:embed="rId2"/>
          <a:srcRect l="12739" b="31163"/>
          <a:stretch>
            <a:fillRect/>
          </a:stretch>
        </p:blipFill>
        <p:spPr>
          <a:xfrm>
            <a:off x="939165" y="1749425"/>
            <a:ext cx="4817745" cy="2059940"/>
          </a:xfrm>
          <a:prstGeom prst="rect">
            <a:avLst/>
          </a:prstGeom>
        </p:spPr>
      </p:pic>
      <p:pic>
        <p:nvPicPr>
          <p:cNvPr id="15" name="Picture 14" descr="Screenshot 2026-07-18 001138"/>
          <p:cNvPicPr>
            <a:picLocks noChangeAspect="1"/>
          </p:cNvPicPr>
          <p:nvPr/>
        </p:nvPicPr>
        <p:blipFill>
          <a:blip r:embed="rId3"/>
          <a:srcRect l="13620" b="39109"/>
          <a:stretch>
            <a:fillRect/>
          </a:stretch>
        </p:blipFill>
        <p:spPr>
          <a:xfrm>
            <a:off x="5934075" y="1749425"/>
            <a:ext cx="5247640" cy="20510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Item Details &amp; Notifications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466344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943600"/>
            <a:ext cx="4800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Item detail view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080760" y="1691640"/>
            <a:ext cx="5074920" cy="466344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217920" y="5943600"/>
            <a:ext cx="4800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 panel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 |  18</a:t>
            </a:r>
            <a:endParaRPr lang="en-US" sz="1000" dirty="0"/>
          </a:p>
        </p:txBody>
      </p:sp>
      <p:pic>
        <p:nvPicPr>
          <p:cNvPr id="12" name="Image 0" descr="/home/claude/work/extracted/Project report/user(screenshots)/Screenshot 2026-07-18 00242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77240" y="1828800"/>
            <a:ext cx="4800600" cy="4069080"/>
          </a:xfrm>
          <a:prstGeom prst="rect">
            <a:avLst/>
          </a:prstGeom>
        </p:spPr>
      </p:pic>
      <p:pic>
        <p:nvPicPr>
          <p:cNvPr id="13" name="Picture 12" descr="Screenshot 2026-07-18 001547"/>
          <p:cNvPicPr>
            <a:picLocks noChangeAspect="1"/>
          </p:cNvPicPr>
          <p:nvPr/>
        </p:nvPicPr>
        <p:blipFill>
          <a:blip r:embed="rId2"/>
          <a:srcRect r="53125"/>
          <a:stretch>
            <a:fillRect/>
          </a:stretch>
        </p:blipFill>
        <p:spPr>
          <a:xfrm>
            <a:off x="6217920" y="1833880"/>
            <a:ext cx="4810760" cy="40100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Smart Matches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 |  19</a:t>
            </a:r>
            <a:endParaRPr lang="en-US" sz="1000" dirty="0"/>
          </a:p>
        </p:txBody>
      </p:sp>
      <p:sp>
        <p:nvSpPr>
          <p:cNvPr id="18" name="Shape 3"/>
          <p:cNvSpPr/>
          <p:nvPr/>
        </p:nvSpPr>
        <p:spPr>
          <a:xfrm>
            <a:off x="822960" y="1781175"/>
            <a:ext cx="105156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Picture 18" descr="Screenshot 2026-07-18 0012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635" y="1906270"/>
            <a:ext cx="9892030" cy="42792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Claims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9445752" y="651129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 |  20</a:t>
            </a:r>
            <a:endParaRPr lang="en-US" sz="1000" dirty="0"/>
          </a:p>
        </p:txBody>
      </p:sp>
      <p:sp>
        <p:nvSpPr>
          <p:cNvPr id="13" name="Shape 2"/>
          <p:cNvSpPr/>
          <p:nvPr/>
        </p:nvSpPr>
        <p:spPr>
          <a:xfrm>
            <a:off x="640080" y="1691640"/>
            <a:ext cx="10515600" cy="311404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14" name="Text 3"/>
          <p:cNvSpPr/>
          <p:nvPr/>
        </p:nvSpPr>
        <p:spPr>
          <a:xfrm>
            <a:off x="3510915" y="4524375"/>
            <a:ext cx="4800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/>
              <a:t>Submit claim proof</a:t>
            </a:r>
            <a:endParaRPr lang="en-US" sz="1150" dirty="0"/>
          </a:p>
        </p:txBody>
      </p:sp>
      <p:sp>
        <p:nvSpPr>
          <p:cNvPr id="15" name="Shape 4"/>
          <p:cNvSpPr/>
          <p:nvPr/>
        </p:nvSpPr>
        <p:spPr>
          <a:xfrm>
            <a:off x="640080" y="4975225"/>
            <a:ext cx="10513695" cy="157607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5"/>
          <p:cNvSpPr/>
          <p:nvPr/>
        </p:nvSpPr>
        <p:spPr>
          <a:xfrm>
            <a:off x="3598545" y="6238875"/>
            <a:ext cx="4800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/>
              <a:t>Lists of claim items after submitting claim proof</a:t>
            </a:r>
            <a:endParaRPr lang="en-US" sz="1150" dirty="0"/>
          </a:p>
        </p:txBody>
      </p:sp>
      <p:pic>
        <p:nvPicPr>
          <p:cNvPr id="18" name="Picture 17" descr="Screenshot 2026-07-18 0015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435" y="5049520"/>
            <a:ext cx="10157460" cy="121729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" y="1792605"/>
            <a:ext cx="9394825" cy="27546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Profile &amp; Real-Time Chat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466344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915025"/>
            <a:ext cx="4800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/>
              <a:t>User profile management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080760" y="1691640"/>
            <a:ext cx="5074920" cy="466344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217920" y="5943600"/>
            <a:ext cx="4800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/>
              <a:t>Secure messaging between matched users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 |  21</a:t>
            </a:r>
            <a:endParaRPr lang="en-US" sz="1000" dirty="0"/>
          </a:p>
        </p:txBody>
      </p:sp>
      <p:pic>
        <p:nvPicPr>
          <p:cNvPr id="12" name="Picture 11" descr="Screenshot 2026-07-18 0012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2705" y="1807210"/>
            <a:ext cx="4431030" cy="4173855"/>
          </a:xfrm>
          <a:prstGeom prst="rect">
            <a:avLst/>
          </a:prstGeom>
        </p:spPr>
      </p:pic>
      <p:pic>
        <p:nvPicPr>
          <p:cNvPr id="11" name="Picture 10" descr="Screenshot 2026-07-18 0016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995" y="1807210"/>
            <a:ext cx="4616450" cy="41122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028090">
              <a:alpha val="4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00A896">
              <a:alpha val="3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914400" y="2743200"/>
            <a:ext cx="103327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 Interface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E0D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for administrators to verify claims and monitor the system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Admin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332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Global, system-wide metrics across all users and items.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 |  22</a:t>
            </a:r>
            <a:endParaRPr lang="en-US" sz="1000" dirty="0"/>
          </a:p>
        </p:txBody>
      </p:sp>
      <p:sp>
        <p:nvSpPr>
          <p:cNvPr id="9" name="Shape 3"/>
          <p:cNvSpPr/>
          <p:nvPr/>
        </p:nvSpPr>
        <p:spPr>
          <a:xfrm>
            <a:off x="822960" y="1828800"/>
            <a:ext cx="7040880" cy="434340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4"/>
          <p:cNvSpPr/>
          <p:nvPr/>
        </p:nvSpPr>
        <p:spPr>
          <a:xfrm>
            <a:off x="8092440" y="1828800"/>
            <a:ext cx="3246120" cy="434340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p>
            <a:endParaRPr lang="en-US"/>
          </a:p>
        </p:txBody>
      </p:sp>
      <p:pic>
        <p:nvPicPr>
          <p:cNvPr id="12" name="Image 1" descr="/home/claude/work/extracted/Project report/admin(screenshots)/Screenshot 2026-07-18 002747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279130" y="2908300"/>
            <a:ext cx="2854325" cy="2207260"/>
          </a:xfrm>
          <a:prstGeom prst="rect">
            <a:avLst/>
          </a:prstGeom>
        </p:spPr>
      </p:pic>
      <p:pic>
        <p:nvPicPr>
          <p:cNvPr id="14" name="Image 0" descr="/home/claude/work/extracted/Project report/admin(screenshots)/Screenshot 2026-07-18 002838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09320" y="1977390"/>
            <a:ext cx="6809740" cy="399859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Claims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332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Admins review pending claims and proof of ownership before approving or rejecting.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10373995" cy="443484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work/extracted/Project report/admin(screenshots)/Screenshot 2026-07-18 002720.png"/>
          <p:cNvPicPr>
            <a:picLocks noChangeAspect="1"/>
          </p:cNvPicPr>
          <p:nvPr/>
        </p:nvPicPr>
        <p:blipFill>
          <a:blip r:embed="rId1"/>
          <a:srcRect l="-4" t="-492" r="4" b="25294"/>
          <a:stretch>
            <a:fillRect/>
          </a:stretch>
        </p:blipFill>
        <p:spPr>
          <a:xfrm>
            <a:off x="1087755" y="1892300"/>
            <a:ext cx="9855835" cy="41033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 |  23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Analytics &amp; Reporting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332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Aggregate stats: totals by category, hotspot locations, and recent activity.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05156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DCEEEC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B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 |  24</a:t>
            </a:r>
            <a:endParaRPr lang="en-US" sz="1000" dirty="0"/>
          </a:p>
        </p:txBody>
      </p:sp>
      <p:pic>
        <p:nvPicPr>
          <p:cNvPr id="9" name="Image 0" descr="/home/claude/work/extracted/Project report/admin(screenshots)/Screenshot 2026-07-18 002734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05840" y="1993392"/>
            <a:ext cx="10149840" cy="419709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029200" cy="5029200"/>
          </a:xfrm>
          <a:prstGeom prst="ellipse">
            <a:avLst/>
          </a:prstGeom>
          <a:solidFill>
            <a:srgbClr val="028090">
              <a:alpha val="4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418320" y="4572000"/>
            <a:ext cx="4114800" cy="4114800"/>
          </a:xfrm>
          <a:prstGeom prst="ellipse">
            <a:avLst/>
          </a:prstGeom>
          <a:solidFill>
            <a:srgbClr val="00A896">
              <a:alpha val="3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18872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Secure, Auditable Backend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969264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FEE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LostLink successfully provides a secure backend for campus lost and found management. By implementing business logic directly inside Oracle using PL/SQL, the system guarantees data consistency through the application interface.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FEE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strict relational design prevents anomalies and redundancy, while robust foreign keys, triggers, and sequences handle complex workflows like smart matching and claim verification efficiently.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5486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7483</Words>
  <Application>WPS Presentation</Application>
  <PresentationFormat>On-screen Show (16:9)</PresentationFormat>
  <Paragraphs>422</Paragraphs>
  <Slides>27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Ashraful</cp:lastModifiedBy>
  <cp:revision>3</cp:revision>
  <dcterms:created xsi:type="dcterms:W3CDTF">2026-07-17T21:21:00Z</dcterms:created>
  <dcterms:modified xsi:type="dcterms:W3CDTF">2026-07-18T06:17:26Z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93DB36D032A149DEB790ECF1E2BB202B_13</vt:lpwstr>
  </property>
</Properties>
</file>